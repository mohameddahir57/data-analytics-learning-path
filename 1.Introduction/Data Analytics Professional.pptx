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185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1908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Introduction to Data Analytics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548640"/>
            <a:ext cx="3566160" cy="5394960"/>
          </a:xfrm>
          <a:prstGeom prst="rect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097280"/>
            <a:ext cx="2468880" cy="1005840"/>
          </a:xfrm>
          <a:prstGeom prst="rect">
            <a:avLst/>
          </a:prstGeom>
          <a:solidFill>
            <a:srgbClr val="9CC3E6"/>
          </a:solidFill>
          <a:ln w="12700">
            <a:solidFill>
              <a:srgbClr val="9CC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2377440"/>
            <a:ext cx="2468880" cy="1005840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3657600"/>
            <a:ext cx="2468880" cy="10058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to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Analytics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learners should understand by the end of the week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10424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50800" dir="2700000" algn="bl" rotWithShape="0">
              <a:srgbClr val="B8C4D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700784"/>
            <a:ext cx="585216" cy="58521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19385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of data analytics, analyst role, analytics types, and workflow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944368"/>
            <a:ext cx="10424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50800" dir="2700000" algn="bl" rotWithShape="0">
              <a:srgbClr val="B8C4D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3182112"/>
            <a:ext cx="585216" cy="585216"/>
          </a:xfrm>
          <a:prstGeom prst="ellipse">
            <a:avLst/>
          </a:prstGeom>
          <a:solidFill>
            <a:srgbClr val="4F81B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1868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&amp; Tools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341985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sources, data formats, ethics, and the difference between spreadsheets, databases, and BI tools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4425696"/>
            <a:ext cx="10424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50800" dir="2700000" algn="bl" rotWithShape="0">
              <a:srgbClr val="B8C4D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4663440"/>
            <a:ext cx="585216" cy="585216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70001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4590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Assignment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28800" y="4901184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how analytics supports decision-making and identify the right tool for a simple business case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Day 1: Analytics Foundations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concepts that introduce the purpose of data analytics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7947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A5F"/>
                </a:solidFill>
              </a:rPr>
              <a:t>What is data analytics?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31546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33142"/>
                </a:solidFill>
              </a:rPr>
              <a:t>The process of collecting, cleaning, analyzing, and interpreting data to support better decisions.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A5F"/>
                </a:solidFill>
              </a:rPr>
              <a:t>Role of a data analyst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315468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raw data into useful insights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Identifies trends, issues, and opportunities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Communicates findings to decision-makers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A5F"/>
                </a:solidFill>
              </a:rPr>
              <a:t>Types of analytics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937760" y="1600200"/>
            <a:ext cx="2514600" cy="164592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180136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</a:rPr>
              <a:t>Descriptive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02352" y="22585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3142"/>
                </a:solidFill>
              </a:rPr>
              <a:t>What happened?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35240" y="1600200"/>
            <a:ext cx="2514600" cy="1645920"/>
          </a:xfrm>
          <a:prstGeom prst="roundRect">
            <a:avLst/>
          </a:prstGeom>
          <a:solidFill>
            <a:srgbClr val="C6DC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180136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</a:rPr>
              <a:t>Diagnostic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99832" y="22585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3142"/>
                </a:solidFill>
              </a:rPr>
              <a:t>Why did it happen?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37760" y="3474720"/>
            <a:ext cx="2514600" cy="1645920"/>
          </a:xfrm>
          <a:prstGeom prst="roundRect">
            <a:avLst/>
          </a:prstGeom>
          <a:solidFill>
            <a:srgbClr val="A9C9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36758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</a:rPr>
              <a:t>Predictive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02352" y="41330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3142"/>
                </a:solidFill>
              </a:rPr>
              <a:t>What is likely to happen?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35240" y="3474720"/>
            <a:ext cx="2514600" cy="1645920"/>
          </a:xfrm>
          <a:prstGeom prst="roundRect">
            <a:avLst/>
          </a:prstGeom>
          <a:solidFill>
            <a:srgbClr val="7FB0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36758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</a:rPr>
              <a:t>Prescriptive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99832" y="41330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3142"/>
                </a:solidFill>
              </a:rPr>
              <a:t>What should we do?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Analytics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step-by-step view of how analysis moves from question to action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67712" y="2825496"/>
            <a:ext cx="164592" cy="201168"/>
          </a:xfrm>
          <a:prstGeom prst="chevron">
            <a:avLst/>
          </a:prstGeom>
          <a:solidFill>
            <a:srgbClr val="A9C9EB"/>
          </a:solidFill>
          <a:ln w="12700">
            <a:solidFill>
              <a:srgbClr val="A9C9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87952" y="2825496"/>
            <a:ext cx="164592" cy="201168"/>
          </a:xfrm>
          <a:prstGeom prst="chevron">
            <a:avLst/>
          </a:prstGeom>
          <a:solidFill>
            <a:srgbClr val="A9C9EB"/>
          </a:solidFill>
          <a:ln w="12700">
            <a:solidFill>
              <a:srgbClr val="A9C9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08192" y="2825496"/>
            <a:ext cx="164592" cy="201168"/>
          </a:xfrm>
          <a:prstGeom prst="chevron">
            <a:avLst/>
          </a:prstGeom>
          <a:solidFill>
            <a:srgbClr val="A9C9EB"/>
          </a:solidFill>
          <a:ln w="12700">
            <a:solidFill>
              <a:srgbClr val="A9C9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8432" y="2825496"/>
            <a:ext cx="164592" cy="201168"/>
          </a:xfrm>
          <a:prstGeom prst="chevron">
            <a:avLst/>
          </a:prstGeom>
          <a:solidFill>
            <a:srgbClr val="A9C9EB"/>
          </a:solidFill>
          <a:ln w="12700">
            <a:solidFill>
              <a:srgbClr val="A9C9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48672" y="2825496"/>
            <a:ext cx="164592" cy="201168"/>
          </a:xfrm>
          <a:prstGeom prst="chevron">
            <a:avLst/>
          </a:prstGeom>
          <a:solidFill>
            <a:srgbClr val="A9C9EB"/>
          </a:solidFill>
          <a:ln w="12700">
            <a:solidFill>
              <a:srgbClr val="A9C9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331720"/>
            <a:ext cx="1645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" y="244144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7864" y="25603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" y="29443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A5F"/>
                </a:solidFill>
              </a:rPr>
              <a:t>Ask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" y="3509772"/>
            <a:ext cx="142646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33142"/>
                </a:solidFill>
              </a:rPr>
              <a:t>Define the problem or business question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514600" y="2331720"/>
            <a:ext cx="1645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18104" y="244144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8104" y="25603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42616" y="29443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A5F"/>
                </a:solidFill>
              </a:rPr>
              <a:t>Collect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24328" y="3547872"/>
            <a:ext cx="142646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33142"/>
                </a:solidFill>
              </a:rPr>
              <a:t>Gather data from relevant sources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434840" y="2331720"/>
            <a:ext cx="1645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38344" y="244144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38344" y="25603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62856" y="29443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A5F"/>
                </a:solidFill>
              </a:rPr>
              <a:t>Prepare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0" y="3566160"/>
            <a:ext cx="142646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33142"/>
                </a:solidFill>
              </a:rPr>
              <a:t>Clean and organize the data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55080" y="2331720"/>
            <a:ext cx="1645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58584" y="244144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58584" y="25603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83096" y="29443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A5F"/>
                </a:solidFill>
              </a:rPr>
              <a:t>Analyze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46520" y="3584448"/>
            <a:ext cx="142646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33142"/>
                </a:solidFill>
              </a:rPr>
              <a:t>Look for patterns, trends, and insights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275320" y="2331720"/>
            <a:ext cx="1645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78824" y="244144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78824" y="25603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03336" y="29443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A5F"/>
                </a:solidFill>
              </a:rPr>
              <a:t>Communicate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62696" y="3593592"/>
            <a:ext cx="142646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33142"/>
                </a:solidFill>
              </a:rPr>
              <a:t>Present findings clearly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0195560" y="2331720"/>
            <a:ext cx="1645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99064" y="244144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99064" y="25603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323576" y="29443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A5F"/>
                </a:solidFill>
              </a:rPr>
              <a:t>Act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323576" y="3584448"/>
            <a:ext cx="142646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33142"/>
                </a:solidFill>
              </a:rPr>
              <a:t>Support decisions and improvements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6012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33142"/>
                </a:solidFill>
              </a:rPr>
              <a:t>Key idea: analytics is not only about numbers; it is a workflow that begins with a question and ends with a decision.</a:t>
            </a:r>
            <a:endParaRPr lang="en-US" sz="20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Day 2: Data Sources and Data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where data comes from and how it is organized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74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A5F"/>
                </a:solidFill>
              </a:rPr>
              <a:t>Common data sources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148840"/>
            <a:ext cx="292608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systems: sales, finance, HR, operations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touchpoints: websites, apps, surveys, CRM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sources: market reports, open data, social media, sensors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3108960" cy="443484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A5F"/>
                </a:solidFill>
              </a:rPr>
              <a:t>Structured data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28032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33142"/>
                </a:solidFill>
              </a:rPr>
              <a:t>Organized in rows and columns, easy to store, search, and analyze.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800600" y="3154680"/>
            <a:ext cx="256032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spreadsheets, transaction tables, customer records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108960" cy="4434840"/>
          </a:xfrm>
          <a:prstGeom prst="roundRect">
            <a:avLst/>
          </a:prstGeom>
          <a:solidFill>
            <a:srgbClr val="C6DC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783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A5F"/>
                </a:solidFill>
              </a:rPr>
              <a:t>Unstructured data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94192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33142"/>
                </a:solidFill>
              </a:rPr>
              <a:t>Does not fit neatly into tables and often needs extra processing before analysis.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66760" y="3154680"/>
            <a:ext cx="260604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emails, images, videos, PDFs, social media posts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 the Right Tool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Spreadsheets, databases, and BI tools each serve a different purpose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2011680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465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Tool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88920" y="1600200"/>
            <a:ext cx="2651760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7465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Best use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40680" y="1600200"/>
            <a:ext cx="2624328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746504"/>
            <a:ext cx="2532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Strengths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5008" y="1600200"/>
            <a:ext cx="2249424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0728" y="174650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314432" y="1600200"/>
            <a:ext cx="1051560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60152" y="174650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Examples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" y="2130552"/>
            <a:ext cx="2011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240280"/>
            <a:ext cx="18653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3142"/>
                </a:solidFill>
              </a:rPr>
              <a:t>Spreadsheets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88920" y="2130552"/>
            <a:ext cx="2651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62072" y="2240280"/>
            <a:ext cx="250545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33142"/>
                </a:solidFill>
              </a:rPr>
              <a:t>Small datasets and quick calculations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40680" y="2130552"/>
            <a:ext cx="26243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2240280"/>
            <a:ext cx="24780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33142"/>
                </a:solidFill>
              </a:rPr>
              <a:t>Easy to use, flexible, familiar to most users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65008" y="2130552"/>
            <a:ext cx="224942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240280"/>
            <a:ext cx="21031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33142"/>
                </a:solidFill>
              </a:rPr>
              <a:t>Errors increase as data grows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314432" y="2130552"/>
            <a:ext cx="10515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87584" y="2240280"/>
            <a:ext cx="90525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33142"/>
                </a:solidFill>
              </a:rPr>
              <a:t>Excel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7240" y="2916936"/>
            <a:ext cx="2011680" cy="786384"/>
          </a:xfrm>
          <a:prstGeom prst="rect">
            <a:avLst/>
          </a:prstGeom>
          <a:solidFill>
            <a:srgbClr val="EEF4FA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3026664"/>
            <a:ext cx="18653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3142"/>
                </a:solidFill>
              </a:rPr>
              <a:t>Databases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788920" y="2916936"/>
            <a:ext cx="2651760" cy="786384"/>
          </a:xfrm>
          <a:prstGeom prst="rect">
            <a:avLst/>
          </a:prstGeom>
          <a:solidFill>
            <a:srgbClr val="EEF4FA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2072" y="3026664"/>
            <a:ext cx="250545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33142"/>
                </a:solidFill>
              </a:rPr>
              <a:t>Storing large, structured datasets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40680" y="2916936"/>
            <a:ext cx="2624328" cy="786384"/>
          </a:xfrm>
          <a:prstGeom prst="rect">
            <a:avLst/>
          </a:prstGeom>
          <a:solidFill>
            <a:srgbClr val="EEF4FA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3026664"/>
            <a:ext cx="24780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33142"/>
                </a:solidFill>
              </a:rPr>
              <a:t>Fast retrieval, reliable, supports many users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65008" y="2916936"/>
            <a:ext cx="2249424" cy="786384"/>
          </a:xfrm>
          <a:prstGeom prst="rect">
            <a:avLst/>
          </a:prstGeom>
          <a:solidFill>
            <a:srgbClr val="EEF4FA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3026664"/>
            <a:ext cx="21031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33142"/>
                </a:solidFill>
              </a:rPr>
              <a:t>Needs design and query skills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314432" y="2916936"/>
            <a:ext cx="1051560" cy="786384"/>
          </a:xfrm>
          <a:prstGeom prst="rect">
            <a:avLst/>
          </a:prstGeom>
          <a:solidFill>
            <a:srgbClr val="EEF4FA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87584" y="3026664"/>
            <a:ext cx="90525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33142"/>
                </a:solidFill>
              </a:rPr>
              <a:t>SQL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7240" y="3703320"/>
            <a:ext cx="2011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3813048"/>
            <a:ext cx="18653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3142"/>
                </a:solidFill>
              </a:rPr>
              <a:t>BI tools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788920" y="3703320"/>
            <a:ext cx="2651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62072" y="3813048"/>
            <a:ext cx="250545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33142"/>
                </a:solidFill>
              </a:rPr>
              <a:t>Dashboards and visual reporting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40680" y="3703320"/>
            <a:ext cx="26243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3813048"/>
            <a:ext cx="24780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33142"/>
                </a:solidFill>
              </a:rPr>
              <a:t>Interactive charts, KPI tracking, strong presentation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65008" y="3703320"/>
            <a:ext cx="224942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3813048"/>
            <a:ext cx="21031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33142"/>
                </a:solidFill>
              </a:rPr>
              <a:t>Depends on clean data underneath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314432" y="3703320"/>
            <a:ext cx="10515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87584" y="3813048"/>
            <a:ext cx="90525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33142"/>
                </a:solidFill>
              </a:rPr>
              <a:t>Power BI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8680" y="51663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33142"/>
                </a:solidFill>
              </a:rPr>
              <a:t>Simple rule: use spreadsheets for quick work, databases for storage and scale, and BI tools for reporting and decisions.</a:t>
            </a:r>
            <a:endParaRPr lang="en-US" sz="20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Ethics and End-of-Week Assignment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analytics combines technical skill with responsible use of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4754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A5F"/>
                </a:solidFill>
              </a:rPr>
              <a:t>Basic data ethics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069080" cy="2331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privacy and confidential information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accurate, relevant, and reliable data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bias in collection, analysis, and interpretation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transparent about methods and limitations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806440" y="1508760"/>
            <a:ext cx="5440680" cy="429768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8105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3A5F"/>
                </a:solidFill>
              </a:rPr>
              <a:t>End-of-week assignment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126480" y="23317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A5F"/>
                </a:solidFill>
              </a:rPr>
              <a:t>Task: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20840" y="2267712"/>
            <a:ext cx="3977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33142"/>
                </a:solidFill>
              </a:rPr>
              <a:t>Write a short response explaining how data analytics helps organizations make better decisions.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126480" y="31272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5F"/>
                </a:solidFill>
              </a:rPr>
              <a:t>Include: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20840" y="3401568"/>
            <a:ext cx="38404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example of a data source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example of structured or unstructured data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tool you would use: spreadsheet, database, or BI tool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3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ethical issue to consider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144768" y="52120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33142"/>
                </a:solidFill>
              </a:rPr>
              <a:t>Presentation tip: ask learners to justify why they selected the tool they chose.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8251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583</Words>
  <Application>Microsoft Office PowerPoint</Application>
  <PresentationFormat>Widescreen</PresentationFormat>
  <Paragraphs>116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Analytics</dc:title>
  <dc:subject>Week 1 Data Analytics</dc:subject>
  <dc:creator>OpenAI</dc:creator>
  <cp:lastModifiedBy>Abdishakur Dhicisow</cp:lastModifiedBy>
  <cp:revision>2</cp:revision>
  <dcterms:created xsi:type="dcterms:W3CDTF">2026-04-05T08:32:49Z</dcterms:created>
  <dcterms:modified xsi:type="dcterms:W3CDTF">2026-04-05T18:39:09Z</dcterms:modified>
</cp:coreProperties>
</file>