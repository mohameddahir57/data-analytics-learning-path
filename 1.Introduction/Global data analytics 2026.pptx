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18C3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4F8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Data scientists</c:v>
                </c:pt>
                <c:pt idx="1">
                  <c:v>Math science occupations</c:v>
                </c:pt>
                <c:pt idx="2">
                  <c:v>All occupations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27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0C-43B9-97B2-C0ED8B1B4E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7B8C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2946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B8C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0E24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24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bn)</c:v>
                </c:pt>
              </c:strCache>
            </c:strRef>
          </c:tx>
          <c:spPr>
            <a:ln w="38100" cap="flat">
              <a:solidFill>
                <a:srgbClr val="61E0A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1E0A1"/>
              </a:solidFill>
              <a:ln w="9525" cap="flat">
                <a:solidFill>
                  <a:srgbClr val="61E0A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4F8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2030</c:v>
                </c:pt>
                <c:pt idx="2">
                  <c:v>2034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104.39</c:v>
                </c:pt>
                <c:pt idx="1">
                  <c:v>220</c:v>
                </c:pt>
                <c:pt idx="2">
                  <c:v>495.87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1D-4FBB-9D04-CA9D76D3FA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7B8C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majorGridlines>
          <c:spPr>
            <a:ln w="12700" cap="flat">
              <a:solidFill>
                <a:srgbClr val="2946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B8C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4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24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/ rank signal</c:v>
                </c:pt>
              </c:strCache>
            </c:strRef>
          </c:tx>
          <c:spPr>
            <a:solidFill>
              <a:srgbClr val="F6B4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4F8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Analytical thinking</c:v>
                </c:pt>
                <c:pt idx="1">
                  <c:v>Workforce needing training by 2030</c:v>
                </c:pt>
                <c:pt idx="2">
                  <c:v>Skills expected to change by 2030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59</c:v>
                </c:pt>
                <c:pt idx="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3B-4410-A043-517C24096B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20" b="0" i="0" u="none" strike="noStrike">
                <a:solidFill>
                  <a:srgbClr val="A7B8C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9465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7B8C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0E24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E24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54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World Economic Forum, The Future of Jobs Report 2025 — https://www.weforum.org/publications/the-future-of-jobs-report-2025/
- U.S. Bureau of Labor Statistics, Data Scientists Occupational Outlook Handbook — https://www.bls.gov/ooh/math/data-scientists.htm
- Fortune Business Insights, Data Analytics Market report page — https://www.fortunebusinessinsights.com/data-analytics-market-108882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World Economic Forum, The Future of Jobs Report 2025 — https://www.weforum.org/publications/the-future-of-jobs-report-2025/
- McKinsey, The State of AI: Global Survey 2025 — https://www.mckinsey.com/capabilities/quantumblack/our-insights/the-state-of-ai
- U.S. Bureau of Labor Statistics, Data Scientists Occupational Outlook Handbook — https://www.bls.gov/ooh/math/data-scientists.htm
- Fortune Business Insights, Data Analytics Market report page — https://www.fortunebusinessinsights.com/data-analytics-market-108882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McKinsey, The State of AI: Global Survey 2025 — https://www.mckinsey.com/capabilities/quantumblack/our-insights/the-state-of-ai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General synthesis slide based on sector examples summarized from McKinsey, WEF, and BLS sources used elsewhere in the deck.
- McKinsey, The State of AI: Global Survey 2025 — https://www.mckinsey.com/capabilities/quantumblack/our-insights/the-state-of-ai
- World Economic Forum, The Future of Jobs Report 2025 — https://www.weforum.org/publications/the-future-of-jobs-report-2025/
- U.S. Bureau of Labor Statistics, Data Scientists Occupational Outlook Handbook — https://www.bls.gov/ooh/math/data-scientists.htm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World Economic Forum, The Future of Jobs Report 2025 — https://www.weforum.org/publications/the-future-of-jobs-report-2025/
- U.S. Bureau of Labor Statistics, Data Scientists Occupational Outlook Handbook — https://www.bls.gov/ooh/math/data-scientists.htm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Synthesis of deck findings based on the sources cited in prior slides.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B"/>
          </a:solidFill>
          <a:ln w="12700">
            <a:solidFill>
              <a:srgbClr val="081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C3D6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105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9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DATA ANALYTICS IN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789920" y="6473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9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Data Analytics Works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Around the World in 2026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265176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B8C6"/>
                </a:solidFill>
              </a:rPr>
              <a:t>A professional overview of adoption, value creation, sector use cases, and why global interest keeps rising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03720" y="1143000"/>
            <a:ext cx="0" cy="448056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353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8C3D6"/>
                </a:solidFill>
              </a:rPr>
              <a:t>86%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778240" y="1362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8FB"/>
                </a:solidFill>
              </a:rPr>
              <a:t>Employers expect AI and information processing technologies to transform business by 2030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315200" y="1883664"/>
            <a:ext cx="3840480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2286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61E0A1"/>
                </a:solidFill>
              </a:rPr>
              <a:t>59%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778240" y="2295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8FB"/>
                </a:solidFill>
              </a:rPr>
              <a:t>Global workforce expected to need reskilling or upskilling by 2030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315200" y="2816352"/>
            <a:ext cx="3840480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3218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6B44B"/>
                </a:solidFill>
              </a:rPr>
              <a:t>34%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778240" y="32278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8FB"/>
                </a:solidFill>
              </a:rPr>
              <a:t>Projected U.S. data scientist employment growth, 2024–2034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315200" y="3749040"/>
            <a:ext cx="3840480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1513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7F7F"/>
                </a:solidFill>
              </a:rPr>
              <a:t>$104B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77824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4F8FB"/>
                </a:solidFill>
              </a:rPr>
              <a:t>Estimated size of the 2026 global data analytics market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15200" y="4681728"/>
            <a:ext cx="3840480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5303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B8C6"/>
                </a:solidFill>
              </a:rPr>
              <a:t>Data analytics in 2026 is no longer a support function. It is the operating layer for AI, automation, forecasting, and evidence-based decision making.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data analytics matters more in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importance is visible in technology adoption, labor-market demand, and investment.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5623560" cy="4892040"/>
          </a:xfrm>
          <a:prstGeom prst="roundRect">
            <a:avLst>
              <a:gd name="adj" fmla="val 1495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143000"/>
            <a:ext cx="5230368" cy="4892040"/>
          </a:xfrm>
          <a:prstGeom prst="roundRect">
            <a:avLst>
              <a:gd name="adj" fmla="val 1495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89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Signals of importance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18C3D6">
              <a:alpha val="92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4708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02F"/>
                </a:solidFill>
              </a:rPr>
              <a:t>86%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10512" y="176479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8FB"/>
                </a:solidFill>
              </a:rPr>
              <a:t>of employers expect AI and information processing technologies to transform business by 2030.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68680" y="2715768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61E0A1">
              <a:alpha val="92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7977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02F"/>
                </a:solidFill>
              </a:rPr>
              <a:t>21%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10512" y="26974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8FB"/>
                </a:solidFill>
              </a:rPr>
              <a:t>of organizations using gen AI have redesigned at least some workflows — but workflow redesign has the strongest link to EBIT impact.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648456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F6B44B">
              <a:alpha val="92000"/>
            </a:srgbClr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1246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02F"/>
                </a:solidFill>
              </a:rPr>
              <a:t>34%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10512" y="36301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8FB"/>
                </a:solidFill>
              </a:rPr>
              <a:t>projected growth in data scientist jobs from 2024 to 2034.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68680" y="4581144"/>
            <a:ext cx="749808" cy="475488"/>
          </a:xfrm>
          <a:prstGeom prst="roundRect">
            <a:avLst>
              <a:gd name="adj" fmla="val 11538"/>
            </a:avLst>
          </a:prstGeom>
          <a:solidFill>
            <a:srgbClr val="FF7F7F">
              <a:alpha val="92000"/>
            </a:srgbClr>
          </a:solidFill>
          <a:ln w="12700">
            <a:solidFill>
              <a:srgbClr val="FF7F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4515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02F"/>
                </a:solidFill>
              </a:rPr>
              <a:t>$104B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10512" y="45628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8FB"/>
                </a:solidFill>
              </a:rPr>
              <a:t>estimated 2026 global data analytics market, projected to scale sharply through 2034.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629400" y="13898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Job outlook benchmark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629400" y="1783080"/>
          <a:ext cx="4389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629400" y="3794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Market expansion outlook</a:t>
            </a:r>
            <a:endParaRPr lang="en-US" sz="14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583680" y="4114800"/>
          <a:ext cx="448056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data analytics works in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regions, the workflow is similar: collect, engineer, analyze, act, and continuously improve.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783080" cy="2926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029968"/>
            <a:ext cx="530352" cy="530352"/>
          </a:xfrm>
          <a:prstGeom prst="ellipse">
            <a:avLst/>
          </a:prstGeom>
          <a:solidFill>
            <a:srgbClr val="18C3D6">
              <a:alpha val="88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05740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1. Capture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3383280"/>
            <a:ext cx="1481328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A7B8C6"/>
                </a:solidFill>
              </a:rPr>
              <a:t>Transactions, apps, sensors, CRM, ERP, finance systems, websites, and public data.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1783080" cy="2926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2029968"/>
            <a:ext cx="530352" cy="530352"/>
          </a:xfrm>
          <a:prstGeom prst="ellipse">
            <a:avLst/>
          </a:prstGeom>
          <a:solidFill>
            <a:srgbClr val="61E0A1">
              <a:alpha val="88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05740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53512" y="2697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2. Prepare and govern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35224" y="3383280"/>
            <a:ext cx="1481328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A7B8C6"/>
                </a:solidFill>
              </a:rPr>
              <a:t>Clean, standardize, secure, integrate, and document data for trusted use.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846320" y="1828800"/>
            <a:ext cx="1783080" cy="2926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68112" y="2029968"/>
            <a:ext cx="530352" cy="530352"/>
          </a:xfrm>
          <a:prstGeom prst="ellipse">
            <a:avLst/>
          </a:prstGeom>
          <a:solidFill>
            <a:srgbClr val="F6B44B">
              <a:alpha val="88000"/>
            </a:srgbClr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05740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10912" y="2697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3. Analyze and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3383280"/>
            <a:ext cx="1481328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A7B8C6"/>
                </a:solidFill>
              </a:rPr>
              <a:t>Dashboards, statistics, forecasting, anomaly detection, machine learning, and AI copilots.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1783080" cy="2926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25512" y="2029968"/>
            <a:ext cx="530352" cy="530352"/>
          </a:xfrm>
          <a:prstGeom prst="ellipse">
            <a:avLst/>
          </a:prstGeom>
          <a:solidFill>
            <a:srgbClr val="FF7F7F">
              <a:alpha val="88000"/>
            </a:srgbClr>
          </a:solidFill>
          <a:ln w="12700">
            <a:solidFill>
              <a:srgbClr val="FF7F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205740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68312" y="2697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4. Decide and automate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0024" y="3383280"/>
            <a:ext cx="1481328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A7B8C6"/>
                </a:solidFill>
              </a:rPr>
              <a:t>Teams change pricing, staffing, inventory, underwriting, treatment, or routing decisions.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961120" y="1828800"/>
            <a:ext cx="1783080" cy="2926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82912" y="2029968"/>
            <a:ext cx="530352" cy="530352"/>
          </a:xfrm>
          <a:prstGeom prst="ellipse">
            <a:avLst/>
          </a:prstGeom>
          <a:solidFill>
            <a:srgbClr val="C58CFF">
              <a:alpha val="88000"/>
            </a:srgbClr>
          </a:solidFill>
          <a:ln w="12700">
            <a:solidFill>
              <a:srgbClr val="C5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82912" y="205740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25712" y="26974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5. Learn and improve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07424" y="3383280"/>
            <a:ext cx="1481328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A7B8C6"/>
                </a:solidFill>
              </a:rPr>
              <a:t>Measure outcomes, retrain models, monitor risk, and refine process design.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10863072" cy="594360"/>
          </a:xfrm>
          <a:prstGeom prst="roundRect">
            <a:avLst>
              <a:gd name="adj" fmla="val 12308"/>
            </a:avLst>
          </a:prstGeom>
          <a:solidFill>
            <a:srgbClr val="102C43"/>
          </a:solidFill>
          <a:ln w="12700">
            <a:solidFill>
              <a:srgbClr val="102C4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0120" y="5266944"/>
            <a:ext cx="10149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B"/>
                </a:solidFill>
              </a:rPr>
              <a:t>In 2026 the biggest jump in value comes when analytics is embedded into workflows, not when it stays as a reporting-only function.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analytics is used across sectors worldwide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 cases differ by industry, but the objective is similar: reduce uncertainty and improve decisions.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618488"/>
            <a:ext cx="493776" cy="493776"/>
          </a:xfrm>
          <a:prstGeom prst="ellipse">
            <a:avLst/>
          </a:prstGeom>
          <a:solidFill>
            <a:srgbClr val="18C3D6">
              <a:alpha val="85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Retail &amp; e-commerce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130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pricing, demand forecasting, customer segmentation, campaign performance, basket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417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0248" y="1618488"/>
            <a:ext cx="493776" cy="493776"/>
          </a:xfrm>
          <a:prstGeom prst="ellipse">
            <a:avLst/>
          </a:prstGeom>
          <a:solidFill>
            <a:srgbClr val="61E0A1">
              <a:alpha val="85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1645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Banking &amp; insurance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0248" y="2130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fraud detection, credit scoring, risk management, claims analytics, AML monitoring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07808" y="1618488"/>
            <a:ext cx="493776" cy="493776"/>
          </a:xfrm>
          <a:prstGeom prst="ellipse">
            <a:avLst/>
          </a:prstGeom>
          <a:solidFill>
            <a:srgbClr val="18C3D6">
              <a:alpha val="85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1645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1673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Healthcare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07808" y="2130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patient flow, diagnosis support, capacity planning, treatment outcomes, supply visibility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02C43"/>
          </a:solidFill>
          <a:ln w="12700">
            <a:solidFill>
              <a:srgbClr val="102C4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3904488"/>
            <a:ext cx="493776" cy="493776"/>
          </a:xfrm>
          <a:prstGeom prst="ellipse">
            <a:avLst/>
          </a:prstGeom>
          <a:solidFill>
            <a:srgbClr val="61E0A1">
              <a:alpha val="85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931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959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Manufacturing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416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predictive maintenance, quality analytics, plant performance, inventory and supply planning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69080" y="3703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02C43"/>
          </a:solidFill>
          <a:ln w="12700">
            <a:solidFill>
              <a:srgbClr val="102C4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0248" y="3904488"/>
            <a:ext cx="493776" cy="493776"/>
          </a:xfrm>
          <a:prstGeom prst="ellipse">
            <a:avLst/>
          </a:prstGeom>
          <a:solidFill>
            <a:srgbClr val="18C3D6">
              <a:alpha val="85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3931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92040" y="3959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Government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70248" y="4416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service delivery, tax and budget analytics, public health monitoring, transport planning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370332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102C43"/>
          </a:solidFill>
          <a:ln w="12700">
            <a:solidFill>
              <a:srgbClr val="102C4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07808" y="3904488"/>
            <a:ext cx="493776" cy="493776"/>
          </a:xfrm>
          <a:prstGeom prst="ellipse">
            <a:avLst/>
          </a:prstGeom>
          <a:solidFill>
            <a:srgbClr val="61E0A1">
              <a:alpha val="85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7808" y="3931920"/>
            <a:ext cx="493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29600" y="3959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8FB"/>
                </a:solidFill>
              </a:rPr>
              <a:t>Logistics &amp; mobility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07808" y="4416552"/>
            <a:ext cx="234086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</a:rPr>
              <a:t>route optimization, fleet planning, demand balancing, fulfillment speed, exception alerts</a:t>
            </a:r>
            <a:endParaRPr lang="en-US" sz="10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people are increasingly interested in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growth, AI relevance, lower barriers to entry, and demand for evidence-based management are all pushing interest upward.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280160"/>
            <a:ext cx="5276088" cy="4572000"/>
          </a:xfrm>
          <a:prstGeom prst="roundRect">
            <a:avLst>
              <a:gd name="adj" fmla="val 1600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36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Top reasons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384048" cy="384048"/>
          </a:xfrm>
          <a:prstGeom prst="ellipse">
            <a:avLst/>
          </a:prstGeom>
          <a:solidFill>
            <a:srgbClr val="18C3D6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568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2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1109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F4F8FB"/>
                </a:solidFill>
              </a:rPr>
              <a:t>Strong job growth and pay potential for data-driven roles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61E0A1"/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2549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2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7977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F4F8FB"/>
                </a:solidFill>
              </a:rPr>
              <a:t>AI and big data are among the fastest-rising technical skill areas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868680" y="3657600"/>
            <a:ext cx="384048" cy="384048"/>
          </a:xfrm>
          <a:prstGeom prst="ellipse">
            <a:avLst/>
          </a:prstGeom>
          <a:solidFill>
            <a:srgbClr val="18C3D6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941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2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484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F4F8FB"/>
                </a:solidFill>
              </a:rPr>
              <a:t>Modern tools make analytics accessible beyond specialist teams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61E0A1"/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6285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02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51713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F4F8FB"/>
                </a:solidFill>
              </a:rPr>
              <a:t>Managers now expect decisions to be backed by data, not only instinct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583680" y="15361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Skills and roles are changing fast</a:t>
            </a:r>
            <a:endParaRPr lang="en-US" sz="14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583680" y="1847088"/>
          <a:ext cx="443484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58368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8FB"/>
                </a:solidFill>
              </a:rPr>
              <a:t>Most employable 2026 toolkit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01968" y="416052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73247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01968" y="424281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Excel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580376" y="416052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02C43"/>
          </a:solidFill>
          <a:ln w="12700">
            <a:solidFill>
              <a:srgbClr val="2946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0376" y="42428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SQL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8330184" y="416052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173247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0184" y="42428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Power BI / Tableau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9857232" y="4160520"/>
            <a:ext cx="731520" cy="384048"/>
          </a:xfrm>
          <a:prstGeom prst="roundRect">
            <a:avLst>
              <a:gd name="adj" fmla="val 11905"/>
            </a:avLst>
          </a:prstGeom>
          <a:solidFill>
            <a:srgbClr val="102C43"/>
          </a:solidFill>
          <a:ln w="12700">
            <a:solidFill>
              <a:srgbClr val="2946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57232" y="42428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Python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6601968" y="4672584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173247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Statistics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7626096" y="4672584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102C43"/>
          </a:solidFill>
          <a:ln w="12700">
            <a:solidFill>
              <a:srgbClr val="29465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26096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AI copilots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650224" y="4672584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173247"/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50224" y="475488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F8FB"/>
                </a:solidFill>
              </a:rPr>
              <a:t>Business acumen</a:t>
            </a:r>
            <a:endParaRPr lang="en-US" sz="10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takeaways for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global picture means for organizations, professionals, and students.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0E2438"/>
          </a:solidFill>
          <a:ln w="12700">
            <a:solidFill>
              <a:srgbClr val="0E2438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18C3D6">
              <a:alpha val="92000"/>
            </a:srgbClr>
          </a:solidFill>
          <a:ln w="12700">
            <a:solidFill>
              <a:srgbClr val="18C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02F"/>
                </a:solidFill>
              </a:rPr>
              <a:t>For organizations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99232" y="17282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8FB"/>
                </a:solidFill>
              </a:rPr>
              <a:t>Treat analytics as an operating capability, not a reporting department. The highest value comes when data, AI, process redesign, and accountability move together.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61E0A1">
              <a:alpha val="92000"/>
            </a:srgbClr>
          </a:solidFill>
          <a:ln w="12700">
            <a:solidFill>
              <a:srgbClr val="61E0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249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02F"/>
                </a:solidFill>
              </a:rPr>
              <a:t>For 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99232" y="26426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8FB"/>
                </a:solidFill>
              </a:rPr>
              <a:t>Build a culture where decisions are challenged by data, monitored with metrics, and improved through fast feedback loops.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6B44B">
              <a:alpha val="92000"/>
            </a:srgbClr>
          </a:solidFill>
          <a:ln w="12700">
            <a:solidFill>
              <a:srgbClr val="F6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393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02F"/>
                </a:solidFill>
              </a:rPr>
              <a:t>For professionals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9232" y="3557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8FB"/>
                </a:solidFill>
              </a:rPr>
              <a:t>The strongest profile combines analytics tools with domain understanding, communication, and responsible AI use.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828800" cy="420624"/>
          </a:xfrm>
          <a:prstGeom prst="roundRect">
            <a:avLst>
              <a:gd name="adj" fmla="val 10870"/>
            </a:avLst>
          </a:prstGeom>
          <a:solidFill>
            <a:srgbClr val="FF7F7F">
              <a:alpha val="92000"/>
            </a:srgbClr>
          </a:solidFill>
          <a:ln w="12700">
            <a:solidFill>
              <a:srgbClr val="F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537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02F"/>
                </a:solidFill>
              </a:rPr>
              <a:t>For education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9232" y="44714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8FB"/>
                </a:solidFill>
              </a:rPr>
              <a:t>Students should learn analytics as applied problem solving: Excel, SQL, visualization, statistics, and AI-assisted interpretation.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68680" y="59984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C3D6"/>
                </a:solidFill>
              </a:rPr>
              <a:t>Bottom 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5952744"/>
            <a:ext cx="8915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F4F8FB"/>
                </a:solidFill>
              </a:rPr>
              <a:t>In 2026, data analytics is global, practical, and increasingly central to how work gets done. Interest is rising because analytics now leads directly to better decisions, better jobs, and better AI outcomes.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F96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1195</Words>
  <Application>Microsoft Office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Data Analytics in 2026</dc:title>
  <dc:subject>Global Data Analytics in 2026</dc:subject>
  <dc:creator>OpenAI</dc:creator>
  <cp:lastModifiedBy>Abdishakur Dhicisow</cp:lastModifiedBy>
  <cp:revision>2</cp:revision>
  <dcterms:created xsi:type="dcterms:W3CDTF">2026-04-07T10:11:20Z</dcterms:created>
  <dcterms:modified xsi:type="dcterms:W3CDTF">2026-04-07T21:03:00Z</dcterms:modified>
</cp:coreProperties>
</file>